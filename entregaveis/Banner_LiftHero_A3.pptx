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6521041c54891" /><Relationship Type="http://schemas.openxmlformats.org/officeDocument/2006/relationships/extended-properties" Target="/docProps/app.xml" Id="Re63005cd7f0e426b" /><Relationship Type="http://schemas.openxmlformats.org/officeDocument/2006/relationships/officeDocument" Target="/ppt/presentation.xml" Id="R5a64850f3bf74f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880a3de6b4a61"/>
  </p:sldMasterIdLst>
  <p:notesMasterIdLst>
    <p:notesMasterId xmlns:r="http://schemas.openxmlformats.org/officeDocument/2006/relationships" r:id="R1d0305a62f4a4eca"/>
  </p:notesMasterIdLst>
  <p:sldIdLst>
    <p:sldId xmlns:r="http://schemas.openxmlformats.org/officeDocument/2006/relationships" id="256" r:id="R8b6e232c651e4767"/>
  </p:sldIdLst>
  <p:sldSz cx="32435800" cy="432355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4d48148a0b44dd" /><Relationship Type="http://schemas.openxmlformats.org/officeDocument/2006/relationships/slideMaster" Target="/ppt/slideMasters/slideMaster1.xml" Id="R311880a3de6b4a61" /><Relationship Type="http://schemas.openxmlformats.org/officeDocument/2006/relationships/notesMaster" Target="/ppt/notesMasters/notesMaster1.xml" Id="R1d0305a62f4a4eca" /><Relationship Type="http://schemas.openxmlformats.org/officeDocument/2006/relationships/presProps" Target="/ppt/presProps.xml" Id="R59d22260870141de" /><Relationship Type="http://schemas.openxmlformats.org/officeDocument/2006/relationships/tableStyles" Target="/ppt/tableStyles.xml" Id="Re8f88cedbf864b6d" /><Relationship Type="http://schemas.openxmlformats.org/officeDocument/2006/relationships/slide" Target="/ppt/slides/slide1.xml" Id="R8b6e232c651e47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4a0989190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26ac7473b4da3" /><Relationship Type="http://schemas.openxmlformats.org/officeDocument/2006/relationships/notesMaster" Target="/ppt/notesMasters/notesMaster1.xml" Id="R1db8729fb2a8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spcBef>
                <a:spcPts val="451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00fc6378c4736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9820690-F3EA-4E08-A133-575667450246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AF2FA1D-7631-4643-94D3-66EAB362F80F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F1D0B0-6946-46C4-AD51-0CF225173B9F}" type="slidenum">
              <a:t>&lt;#&gt;</a:t>
            </a:fld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E664A2C-F250-4E3B-9FDC-FEABD737E3A3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094a486efd45c9" /><Relationship Type="http://schemas.openxmlformats.org/officeDocument/2006/relationships/slideLayout" Target="/ppt/slideLayouts/slideLayout1.xml" Id="R07655390135043d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0392CF-41BD-4ABB-8BF7-194E7F6B5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20360" y="1731600"/>
            <a:ext cx="29194200" cy="72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>
            <a:lvl1pPr indent="0" algn="ctr">
              <a:buNone/>
              <a:defRPr sz="111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11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0E078E4-9022-4F88-83C8-84790AF98B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620360" y="10085040"/>
            <a:ext cx="29194200" cy="2853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26080" tIns="113040" rIns="226080" bIns="113040" anchor="t">
            <a:normAutofit/>
          </a:bodyPr>
          <a:lstStyle xmlns:a="http://schemas.openxmlformats.org/drawingml/2006/main">
            <a:lvl1pPr algn="l">
              <a:spcBef>
                <a:spcPts val="1925"/>
              </a:spcBef>
              <a:buChar char="•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925"/>
              </a:spcBef>
              <a:buChar char="–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1925"/>
              </a:spcBef>
              <a:buChar char="•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1925"/>
              </a:spcBef>
              <a:buChar char="–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1925"/>
              </a:spcBef>
              <a:buChar char="»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1925"/>
              </a:spcBef>
              <a:buChar char="»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1925"/>
              </a:spcBef>
              <a:buChar char="»"/>
              <a:defRPr sz="7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846000" indent="-846000" algn="l">
              <a:spcBef>
                <a:spcPts val="1925"/>
              </a:spcBef>
              <a:buChar char="•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1839960" indent="-706320" algn="l">
              <a:spcBef>
                <a:spcPts val="1925"/>
              </a:spcBef>
              <a:buChar char="–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2827440" indent="-569880" algn="l">
              <a:spcBef>
                <a:spcPts val="1925"/>
              </a:spcBef>
              <a:buChar char="•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3960720" indent="-568080" algn="l">
              <a:spcBef>
                <a:spcPts val="1925"/>
              </a:spcBef>
              <a:buChar char="–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5089680" indent="-565200" algn="l">
              <a:spcBef>
                <a:spcPts val="1925"/>
              </a:spcBef>
              <a:buChar char="»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5089680" indent="-565200" algn="l">
              <a:spcBef>
                <a:spcPts val="1925"/>
              </a:spcBef>
              <a:buChar char="»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5089680" indent="-565200" algn="l">
              <a:spcBef>
                <a:spcPts val="1925"/>
              </a:spcBef>
              <a:buChar char="»"/>
            </a:pPr>
            <a:r>
              <a:rPr sz="7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7991F93-642B-4C43-86C4-C727BC08E093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1620720" y="39375720"/>
            <a:ext cx="7570800" cy="300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226080" tIns="113040" rIns="226080" bIns="113040" anchor="t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44C1A61-C208-4AF8-AE25-99303CDB7A95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11077200" y="39375720"/>
            <a:ext cx="10280520" cy="300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226080" tIns="113040" rIns="226080" bIns="113040" anchor="t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6CA6A57-5D27-4FE4-83E7-48BB07DA8913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23244120" y="39375720"/>
            <a:ext cx="7570800" cy="300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226080" tIns="113040" rIns="226080" bIns="113040" anchor="t">
            <a:noAutofit/>
          </a:bodyPr>
          <a:lstStyle xmlns:a="http://schemas.openxmlformats.org/drawingml/2006/main">
            <a:lvl1pPr indent="0" algn="r">
              <a:buNone/>
              <a:defRPr sz="3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r">
              <a:buNone/>
            </a:pPr>
            <a:fld id="{0BA2B2E6-1791-4FBD-A6F8-FB8D2CBC1BD2}" type="slidenum">
              <a:rPr sz="37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55390135043d1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7c1cb3b44539" /><Relationship Type="http://schemas.openxmlformats.org/officeDocument/2006/relationships/image" Target="/ppt/media/image.jpeg" Id="Rc505c5e681a5401f" /><Relationship Type="http://schemas.openxmlformats.org/officeDocument/2006/relationships/image" Target="/ppt/media/image.png" Id="Rf021287235464531" /><Relationship Type="http://schemas.openxmlformats.org/officeDocument/2006/relationships/image" Target="/ppt/media/image2.png" Id="Rf95f78ee91784240" /><Relationship Type="http://schemas.openxmlformats.org/officeDocument/2006/relationships/image" Target="/ppt/media/image3.png" Id="R0642cadd3733416a" /><Relationship Type="http://schemas.openxmlformats.org/officeDocument/2006/relationships/image" Target="/ppt/media/image4.png" Id="R473a9a82edd6441e" /><Relationship Type="http://schemas.openxmlformats.org/officeDocument/2006/relationships/image" Target="/ppt/media/image5.png" Id="Rc498978dafc9407b" /><Relationship Type="http://schemas.openxmlformats.org/officeDocument/2006/relationships/notesSlide" Target="/ppt/notesSlides/notesSlide1.xml" Id="Rc0c94ed6b68c45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8BE66E2-0335-4EBA-A689-A93A8D47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24840"/>
            <a:ext cx="15357600" cy="12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1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394BDFF-612D-404F-8D8A-0C722E4C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739080"/>
            <a:ext cx="15428880" cy="2994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8560">
            <a:solidFill>
              <a:srgbClr val="48ABA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Text Box 50">
            <a:extLst xmlns:a="http://schemas.openxmlformats.org/drawingml/2006/main">
              <a:ext uri="{FF2B5EF4-FFF2-40B4-BE49-F238E27FC236}">
                <a16:creationId xmlns:a16="http://schemas.microsoft.com/office/drawing/2014/main" id="{3407BF55-A9FA-4254-83F9-165EFD39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60" y="11760120"/>
            <a:ext cx="14357520" cy="147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6480" tIns="48240" rIns="96480" bIns="482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</a:t>
            </a:r>
          </a:p>
          <a:p xmlns:a="http://schemas.openxmlformats.org/drawingml/2006/main">
            <a:pPr>
              <a:spcBef>
                <a:spcPts val="2251"/>
              </a:spcBef>
              <a:buNone/>
            </a:pPr>
          </a:p>
        </p:txBody>
      </p:sp>
      <p:sp>
        <p:nvSpPr>
          <p:cNvPr id="17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F798BDD6-C08D-4B13-8C4A-371B355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760160"/>
            <a:ext cx="15357600" cy="13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Metodologia</a:t>
            </a:r>
          </a:p>
        </p:txBody>
      </p:sp>
      <p:sp>
        <p:nvSpPr>
          <p:cNvPr id="18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37B255C8-8F4C-414D-A28E-34F2687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280" y="24712560"/>
            <a:ext cx="15714720" cy="13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19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618B3768-AC98-4EB2-BC43-6974DF26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280" y="35045640"/>
            <a:ext cx="15714720" cy="13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20" name="Text Box 73">
            <a:extLst xmlns:a="http://schemas.openxmlformats.org/drawingml/2006/main">
              <a:ext uri="{FF2B5EF4-FFF2-40B4-BE49-F238E27FC236}">
                <a16:creationId xmlns:a16="http://schemas.microsoft.com/office/drawing/2014/main" id="{E3E60C51-D93D-4E33-BD64-A69ECA8E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0600" y="27546120"/>
            <a:ext cx="14616000" cy="64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6480" tIns="48240" rIns="96480" bIns="482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</a:t>
            </a:r>
          </a:p>
        </p:txBody>
      </p:sp>
      <p:sp>
        <p:nvSpPr>
          <p:cNvPr id="21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50740A01-4948-423C-AE1A-D74155B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0" y="20574000"/>
            <a:ext cx="182880" cy="69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22F7F264-2CAF-4870-8449-AA6B0957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0600" y="37708920"/>
            <a:ext cx="14289120" cy="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</a:p>
        </p:txBody>
      </p:sp>
      <p:sp>
        <p:nvSpPr>
          <p:cNvPr id="23" name="Retângulo 43">
            <a:extLst xmlns:a="http://schemas.openxmlformats.org/drawingml/2006/main">
              <a:ext uri="{FF2B5EF4-FFF2-40B4-BE49-F238E27FC236}">
                <a16:creationId xmlns:a16="http://schemas.microsoft.com/office/drawing/2014/main" id="{3B1BC828-4763-45E5-89E1-B212B3C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48080"/>
            <a:ext cx="31501080" cy="1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0" b="1">
                <a:solidFill>
                  <a:srgbClr val="111111"/>
                </a:solidFill>
              </a:defRPr>
            </a:pPr>
            <a:r>
              <a:rPr sz="585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LiftHero: Aplicação Web Mobile-First para Evolução de Força</a:t>
            </a:r>
          </a:p>
        </p:txBody>
      </p:sp>
      <p:sp>
        <p:nvSpPr>
          <p:cNvPr id="24" name="Retângulo 44">
            <a:extLst xmlns:a="http://schemas.openxmlformats.org/drawingml/2006/main">
              <a:ext uri="{FF2B5EF4-FFF2-40B4-BE49-F238E27FC236}">
                <a16:creationId xmlns:a16="http://schemas.microsoft.com/office/drawing/2014/main" id="{B5ADD2A5-6CA1-4D41-A6F1-49F83848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362720"/>
            <a:ext cx="31501080" cy="76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75">
                <a:solidFill>
                  <a:srgbClr val="111111"/>
                </a:solidFill>
              </a:defRPr>
            </a:pPr>
            <a:r>
              <a:rPr sz="367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Luiz Eduardo Ramos Maier; João Vitor Broering Lehmkuhl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06434E-7A3E-42E8-AF4B-D40D75BB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280" y="9739080"/>
            <a:ext cx="15714720" cy="2994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8560">
            <a:solidFill>
              <a:srgbClr val="48ABA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Text Box 50">
            <a:extLst xmlns:a="http://schemas.openxmlformats.org/drawingml/2006/main">
              <a:ext uri="{FF2B5EF4-FFF2-40B4-BE49-F238E27FC236}">
                <a16:creationId xmlns:a16="http://schemas.microsoft.com/office/drawing/2014/main" id="{C4079FB7-0A42-4826-A9E9-9A64750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7680" y="11393280"/>
            <a:ext cx="14785920" cy="1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6480" tIns="48240" rIns="96480" bIns="482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27" name="Retângulo 52">
            <a:extLst xmlns:a="http://schemas.openxmlformats.org/drawingml/2006/main">
              <a:ext uri="{FF2B5EF4-FFF2-40B4-BE49-F238E27FC236}">
                <a16:creationId xmlns:a16="http://schemas.microsoft.com/office/drawing/2014/main" id="{A2A5173C-CB37-4336-A5FA-7CC0F731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0" y="40876200"/>
            <a:ext cx="15266880" cy="137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marL="514440" indent="-514440" algn="l">
              <a:buAutoNum type="arabicPeriod"/>
              <a:defRPr sz="2625">
                <a:solidFill>
                  <a:srgbClr val="111111"/>
                </a:solidFill>
              </a:defRPr>
            </a:pPr>
            <a:r>
              <a:rPr sz="262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Engenharia de Software - Unisul - Luiz Eduardo Ramos Maier</a:t>
            </a:r>
          </a:p>
          <a:p xmlns:a="http://schemas.openxmlformats.org/drawingml/2006/main">
            <a:pPr marL="514440" indent="-514440" algn="l">
              <a:buAutoNum type="arabicPeriod"/>
              <a:defRPr sz="2625">
                <a:solidFill>
                  <a:srgbClr val="111111"/>
                </a:solidFill>
              </a:defRPr>
            </a:pPr>
            <a:r>
              <a:rPr sz="262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Engenharia de Software - Unisul - João Vitor Broering Lehmkuhl</a:t>
            </a:r>
          </a:p>
        </p:txBody>
      </p:sp>
      <p:sp>
        <p:nvSpPr>
          <p:cNvPr id="28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EE9B3A8E-FEC9-44EC-A9F1-9AFC835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00" y="23617080"/>
            <a:ext cx="14400000" cy="131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87682EC-EF60-4120-9092-A8AE427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0" y="21113640"/>
            <a:ext cx="15285960" cy="12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30" name="Retângulo 34">
            <a:extLst xmlns:a="http://schemas.openxmlformats.org/drawingml/2006/main">
              <a:ext uri="{FF2B5EF4-FFF2-40B4-BE49-F238E27FC236}">
                <a16:creationId xmlns:a16="http://schemas.microsoft.com/office/drawing/2014/main" id="{CF1C51DE-454B-46C5-B378-5F903EF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60" y="26760240"/>
            <a:ext cx="14400360" cy="503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31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539C9DD8-96E5-498F-8E1C-845843A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00" y="36980640"/>
            <a:ext cx="8062920" cy="13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17443675-59B4-424B-A2C4-D1A1BD0B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3720" y="9905760"/>
            <a:ext cx="10099800" cy="134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Resultados e Validação</a:t>
            </a:r>
          </a:p>
        </p:txBody>
      </p:sp>
      <p:sp>
        <p:nvSpPr>
          <p:cNvPr id="33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D1AEEE8-5E1B-4C43-B725-DF860CBE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0" y="-155520"/>
            <a:ext cx="1143000" cy="36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rmAutofit fontScale="4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A6BFC591-98A6-41B4-BE37-C1EDDAC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80" y="-2880"/>
            <a:ext cx="1143000" cy="36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rmAutofit fontScale="4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8B8BC02D-386A-46A0-9A97-C08FB740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80" y="1098360"/>
            <a:ext cx="8850240" cy="532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 Box 50">
            <a:extLst xmlns:a="http://schemas.openxmlformats.org/drawingml/2006/main">
              <a:ext uri="{FF2B5EF4-FFF2-40B4-BE49-F238E27FC236}">
                <a16:creationId xmlns:a16="http://schemas.microsoft.com/office/drawing/2014/main" id="{F481D844-69C0-4247-88C0-A806FC6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00" y="11912400"/>
            <a:ext cx="14357160" cy="147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6480" tIns="48240" rIns="96480" bIns="482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</a:t>
            </a:r>
          </a:p>
          <a:p xmlns:a="http://schemas.openxmlformats.org/drawingml/2006/main">
            <a:pPr>
              <a:spcBef>
                <a:spcPts val="2251"/>
              </a:spcBef>
              <a:buNone/>
            </a:pPr>
          </a:p>
        </p:txBody>
      </p:sp>
      <p:sp>
        <p:nvSpPr>
          <p:cNvPr id="37" name="Text Box 50">
            <a:extLst xmlns:a="http://schemas.openxmlformats.org/drawingml/2006/main">
              <a:ext uri="{FF2B5EF4-FFF2-40B4-BE49-F238E27FC236}">
                <a16:creationId xmlns:a16="http://schemas.microsoft.com/office/drawing/2014/main" id="{12A60156-E152-49C5-9F51-B6C979D2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80" y="11609280"/>
            <a:ext cx="14920920" cy="147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6480" tIns="48240" rIns="96480" bIns="482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</a:t>
            </a:r>
          </a:p>
          <a:p xmlns:a="http://schemas.openxmlformats.org/drawingml/2006/main">
            <a:pPr>
              <a:spcBef>
                <a:spcPts val="2251"/>
              </a:spcBef>
              <a:buNone/>
            </a:pPr>
          </a:p>
        </p:txBody>
      </p:sp>
      <p:sp>
        <p:nvSpPr>
          <p:cNvPr id="38" name="Retângulo 44">
            <a:extLst xmlns:a="http://schemas.openxmlformats.org/drawingml/2006/main">
              <a:ext uri="{FF2B5EF4-FFF2-40B4-BE49-F238E27FC236}">
                <a16:creationId xmlns:a16="http://schemas.microsoft.com/office/drawing/2014/main" id="{63154607-2E56-4024-901A-B3F84F98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15080"/>
            <a:ext cx="31501080" cy="64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>
                <a:solidFill>
                  <a:srgbClr val="111111"/>
                </a:solidFill>
              </a:defRPr>
            </a:pPr>
            <a:r>
              <a:rPr sz="3225" b="1" i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Palavras-chave: Usabilidade, Mobile First, LocalStorage, Gamificação, Acessibilidade</a:t>
            </a:r>
          </a:p>
        </p:txBody>
      </p:sp>
      <p:sp>
        <p:nvSpPr>
          <p:cNvPr id="39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0C6199BD-7773-44C1-9130-E879A9D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280" y="30546360"/>
            <a:ext cx="15714720" cy="13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080" tIns="113040" rIns="226080" bIns="11304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8ABA6"/>
                </a:solidFill>
              </a:defRPr>
            </a:pPr>
            <a:r>
              <a:rPr sz="5700" b="1" u="none">
                <a:solidFill>
                  <a:srgbClr val="48ABA6"/>
                </a:solidFill>
                <a:latin typeface="Arial"/>
                <a:ea typeface="Arial"/>
                <a:cs typeface="Arial"/>
              </a:rPr>
              <a:t>Agradecimentos</a:t>
            </a:r>
          </a:p>
        </p:txBody>
      </p:sp>
      <p:pic>
        <p:nvPicPr>
          <p:cNvPr id="8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c5e681a5401f"/>
          <a:stretch xmlns:a="http://schemas.openxmlformats.org/drawingml/2006/main"/>
        </p:blipFill>
        <p:spPr>
          <a:xfrm xmlns:a="http://schemas.openxmlformats.org/drawingml/2006/main">
            <a:off x="24210720" y="403200"/>
            <a:ext cx="6624720" cy="500688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  <p:pic>
        <p:nvPicPr>
          <p:cNvPr id="83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1287235464531"/>
          <a:stretch xmlns:a="http://schemas.openxmlformats.org/drawingml/2006/main"/>
        </p:blipFill>
        <p:spPr>
          <a:xfrm xmlns:a="http://schemas.openxmlformats.org/drawingml/2006/main">
            <a:off x="1468080" y="1163520"/>
            <a:ext cx="8877600" cy="330516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78ee91784240"/>
          <a:stretch xmlns:a="http://schemas.openxmlformats.org/drawingml/2006/main"/>
        </p:blipFill>
        <p:spPr>
          <a:xfrm xmlns:a="http://schemas.openxmlformats.org/drawingml/2006/main">
            <a:off x="15316200" y="4876800"/>
            <a:ext cx="1809750" cy="1809750"/>
          </a:xfrm>
          <a:prstGeom xmlns:a="http://schemas.openxmlformats.org/drawingml/2006/main" prst="roundRect">
            <a:avLst>
              <a:gd name="adj" fmla="val 11579"/>
            </a:avLst>
          </a:prstGeom>
        </p:spPr>
      </p:pic>
      <p:sp>
        <p:nvSpPr>
          <p:cNvPr id="43" name="intro-copy">
            <a:extLst xmlns:a="http://schemas.openxmlformats.org/drawingml/2006/main">
              <a:ext uri="{FF2B5EF4-FFF2-40B4-BE49-F238E27FC236}">
                <a16:creationId xmlns:a16="http://schemas.microsoft.com/office/drawing/2014/main" id="{EDB921DE-DF02-4EEC-84A0-1410000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525250"/>
            <a:ext cx="13716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7"/>
                </a:solidFill>
              </a:defRPr>
            </a:pPr>
            <a:r>
              <a:rPr sz="2925">
                <a:solidFill>
                  <a:srgbClr val="111827"/>
                </a:solidFill>
              </a:rPr>
              <a:t>Praticantes intermediários de musculação costumam registrar cargas em papel, notas ou memória, dificultando a visualização de progresso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>
                <a:solidFill>
                  <a:srgbClr val="111827"/>
                </a:solidFill>
              </a:defRPr>
            </a:pPr>
            <a:r>
              <a:rPr sz="2925">
                <a:solidFill>
                  <a:srgbClr val="111827"/>
                </a:solidFill>
              </a:rPr>
              <a:t>O LiftHero centraliza registro, histórico, evolução de carga e feedback gamificado em uma experiência web simples, responsiva e orientada ao uso na academia.</a:t>
            </a:r>
          </a:p>
        </p:txBody>
      </p:sp>
      <p:sp>
        <p:nvSpPr>
          <p:cNvPr id="44" name="objetivo-copy">
            <a:extLst xmlns:a="http://schemas.openxmlformats.org/drawingml/2006/main">
              <a:ext uri="{FF2B5EF4-FFF2-40B4-BE49-F238E27FC236}">
                <a16:creationId xmlns:a16="http://schemas.microsoft.com/office/drawing/2014/main" id="{74F5ED10-12E1-4392-AF7F-BC1E64E4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26625"/>
            <a:ext cx="1371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7"/>
                </a:solidFill>
              </a:defRPr>
            </a:pPr>
            <a:r>
              <a:rPr sz="2925">
                <a:solidFill>
                  <a:srgbClr val="111827"/>
                </a:solidFill>
              </a:rPr>
              <a:t>Criar uma aplicação mobile-first que ajude o usuário a registrar treinos, acompanhar evolução de força, identificar platôs e receber recompensas visuais por progresso.</a:t>
            </a:r>
          </a:p>
        </p:txBody>
      </p:sp>
      <p:sp>
        <p:nvSpPr>
          <p:cNvPr id="45" name="metodologia-copy">
            <a:extLst xmlns:a="http://schemas.openxmlformats.org/drawingml/2006/main">
              <a:ext uri="{FF2B5EF4-FFF2-40B4-BE49-F238E27FC236}">
                <a16:creationId xmlns:a16="http://schemas.microsoft.com/office/drawing/2014/main" id="{53C22AE8-B12F-432A-BC66-68F7DB30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89125"/>
            <a:ext cx="13716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• Pesquisa de problema, persona e concorrentes.</a:t>
            </a:r>
          </a:p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• Protótipo e implementação em HTML5, CSS3 e JavaScript Vanilla.</a:t>
            </a:r>
          </a:p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• Persistência local com LocalStorage e JSON de exercícios.</a:t>
            </a:r>
          </a:p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• Validação por deploy público, testes mobile, Lei de Fitts e Lighthouse.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2cadd3733416a"/>
          <a:stretch xmlns:a="http://schemas.openxmlformats.org/drawingml/2006/main"/>
        </p:blipFill>
        <p:spPr>
          <a:xfrm xmlns:a="http://schemas.openxmlformats.org/drawingml/2006/main">
            <a:off x="3389779" y="32527875"/>
            <a:ext cx="9412941" cy="5715000"/>
          </a:xfrm>
          <a:prstGeom xmlns:a="http://schemas.openxmlformats.org/drawingml/2006/main" prst="roundRect">
            <a:avLst>
              <a:gd name="adj" fmla="val 3667"/>
            </a:avLst>
          </a:prstGeom>
        </p:spPr>
      </p:pic>
      <p:sp>
        <p:nvSpPr>
          <p:cNvPr id="47" name="card-Deploy público">
            <a:extLst xmlns:a="http://schemas.openxmlformats.org/drawingml/2006/main">
              <a:ext uri="{FF2B5EF4-FFF2-40B4-BE49-F238E27FC236}">
                <a16:creationId xmlns:a16="http://schemas.microsoft.com/office/drawing/2014/main" id="{8DF7E76D-CAEA-478E-A7A1-B557946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11525250"/>
            <a:ext cx="4381500" cy="2238375"/>
          </a:xfrm>
          <a:prstGeom xmlns:a="http://schemas.openxmlformats.org/drawingml/2006/main" prst="roundRect">
            <a:avLst>
              <a:gd name="adj" fmla="val 11064"/>
            </a:avLst>
          </a:prstGeom>
          <a:solidFill xmlns:a="http://schemas.openxmlformats.org/drawingml/2006/main">
            <a:srgbClr val="F7FBFB"/>
          </a:solidFill>
          <a:ln xmlns:a="http://schemas.openxmlformats.org/drawingml/2006/main" w="38100">
            <a:solidFill>
              <a:srgbClr val="48A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Deploy público</a:t>
            </a:r>
          </a:p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Render ativo</a:t>
            </a:r>
          </a:p>
        </p:txBody>
      </p:sp>
      <p:sp>
        <p:nvSpPr>
          <p:cNvPr id="48" name="card-Acessibilidade">
            <a:extLst xmlns:a="http://schemas.openxmlformats.org/drawingml/2006/main">
              <a:ext uri="{FF2B5EF4-FFF2-40B4-BE49-F238E27FC236}">
                <a16:creationId xmlns:a16="http://schemas.microsoft.com/office/drawing/2014/main" id="{9444148C-DC9F-42F7-8D81-22D2868E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1525250"/>
            <a:ext cx="4381500" cy="2238375"/>
          </a:xfrm>
          <a:prstGeom xmlns:a="http://schemas.openxmlformats.org/drawingml/2006/main" prst="roundRect">
            <a:avLst>
              <a:gd name="adj" fmla="val 11064"/>
            </a:avLst>
          </a:prstGeom>
          <a:solidFill xmlns:a="http://schemas.openxmlformats.org/drawingml/2006/main">
            <a:srgbClr val="F7FBFB"/>
          </a:solidFill>
          <a:ln xmlns:a="http://schemas.openxmlformats.org/drawingml/2006/main" w="38100">
            <a:solidFill>
              <a:srgbClr val="48A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Acessibilidade</a:t>
            </a:r>
          </a:p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Lighthouse 100</a:t>
            </a:r>
          </a:p>
        </p:txBody>
      </p:sp>
      <p:sp>
        <p:nvSpPr>
          <p:cNvPr id="49" name="card-Mobile First">
            <a:extLst xmlns:a="http://schemas.openxmlformats.org/drawingml/2006/main">
              <a:ext uri="{FF2B5EF4-FFF2-40B4-BE49-F238E27FC236}">
                <a16:creationId xmlns:a16="http://schemas.microsoft.com/office/drawing/2014/main" id="{4ED918A7-5AA6-431A-8631-3BF9EF09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0" y="11525250"/>
            <a:ext cx="4381500" cy="2238375"/>
          </a:xfrm>
          <a:prstGeom xmlns:a="http://schemas.openxmlformats.org/drawingml/2006/main" prst="roundRect">
            <a:avLst>
              <a:gd name="adj" fmla="val 11064"/>
            </a:avLst>
          </a:prstGeom>
          <a:solidFill xmlns:a="http://schemas.openxmlformats.org/drawingml/2006/main">
            <a:srgbClr val="F7FBFB"/>
          </a:solidFill>
          <a:ln xmlns:a="http://schemas.openxmlformats.org/drawingml/2006/main" w="38100">
            <a:solidFill>
              <a:srgbClr val="48A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Mobile First</a:t>
            </a:r>
          </a:p>
          <a:p xmlns:a="http://schemas.openxmlformats.org/drawingml/2006/main">
            <a:pPr algn="ctr">
              <a:defRPr sz="2550" b="1">
                <a:solidFill>
                  <a:srgbClr val="163B3F"/>
                </a:solidFill>
              </a:defRPr>
            </a:pPr>
            <a:r>
              <a:rPr sz="2550" b="1">
                <a:solidFill>
                  <a:srgbClr val="163B3F"/>
                </a:solidFill>
              </a:rPr>
              <a:t>Sem overflow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a9a82edd6441e"/>
          <a:stretch xmlns:a="http://schemas.openxmlformats.org/drawingml/2006/main"/>
        </p:blipFill>
        <p:spPr>
          <a:xfrm xmlns:a="http://schemas.openxmlformats.org/drawingml/2006/main">
            <a:off x="17049750" y="14506915"/>
            <a:ext cx="6572250" cy="3990295"/>
          </a:xfrm>
          <a:prstGeom xmlns:a="http://schemas.openxmlformats.org/drawingml/2006/main" prst="roundRect">
            <a:avLst>
              <a:gd name="adj" fmla="val 4835"/>
            </a:avLst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8978dafc9407b"/>
          <a:stretch xmlns:a="http://schemas.openxmlformats.org/drawingml/2006/main"/>
        </p:blipFill>
        <p:spPr>
          <a:xfrm xmlns:a="http://schemas.openxmlformats.org/drawingml/2006/main">
            <a:off x="24145875" y="14506915"/>
            <a:ext cx="6572250" cy="3990295"/>
          </a:xfrm>
          <a:prstGeom xmlns:a="http://schemas.openxmlformats.org/drawingml/2006/main" prst="roundRect">
            <a:avLst>
              <a:gd name="adj" fmla="val 4835"/>
            </a:avLst>
          </a:prstGeom>
        </p:spPr>
      </p:pic>
      <p:sp>
        <p:nvSpPr>
          <p:cNvPr id="52" name="features-copy">
            <a:extLst xmlns:a="http://schemas.openxmlformats.org/drawingml/2006/main">
              <a:ext uri="{FF2B5EF4-FFF2-40B4-BE49-F238E27FC236}">
                <a16:creationId xmlns:a16="http://schemas.microsoft.com/office/drawing/2014/main" id="{F3DCEEA9-761E-455D-AA77-45BB012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19288125"/>
            <a:ext cx="13858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Funcionalidades entregues:</a:t>
            </a:r>
          </a:p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• Registro de treino por exercício, séries, repetições e carga.</a:t>
            </a:r>
          </a:p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• Histórico e gráfico de evolução por exercício.</a:t>
            </a:r>
          </a:p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• Detecção de PR, alerta de platô e streak.</a:t>
            </a:r>
          </a:p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• Níveis heroicos e conquistas por volume acumulado.</a:t>
            </a:r>
          </a:p>
        </p:txBody>
      </p:sp>
      <p:sp>
        <p:nvSpPr>
          <p:cNvPr id="53" name="conclusao-copy">
            <a:extLst xmlns:a="http://schemas.openxmlformats.org/drawingml/2006/main">
              <a:ext uri="{FF2B5EF4-FFF2-40B4-BE49-F238E27FC236}">
                <a16:creationId xmlns:a16="http://schemas.microsoft.com/office/drawing/2014/main" id="{D39BD215-58F4-4A8F-904F-F5C7EDD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26098500"/>
            <a:ext cx="13858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O projeto atende aos critérios principais da A3: deploy público, Open Graph, dados locais, UX de espera, prevenção de erros, touch targets adequados, responsividade e gamificação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>
                <a:solidFill>
                  <a:srgbClr val="111827"/>
                </a:solidFill>
              </a:defRPr>
            </a:pPr>
            <a:r>
              <a:rPr sz="2775">
                <a:solidFill>
                  <a:srgbClr val="111827"/>
                </a:solidFill>
              </a:rPr>
              <a:t>A solução demonstra aplicação prática de IHC ao reduzir esforço de registro e tornar a evolução de força mais visível.</a:t>
            </a:r>
          </a:p>
        </p:txBody>
      </p:sp>
      <p:sp>
        <p:nvSpPr>
          <p:cNvPr id="54" name="agradecimentos-copy">
            <a:extLst xmlns:a="http://schemas.openxmlformats.org/drawingml/2006/main">
              <a:ext uri="{FF2B5EF4-FFF2-40B4-BE49-F238E27FC236}">
                <a16:creationId xmlns:a16="http://schemas.microsoft.com/office/drawing/2014/main" id="{15932CD6-37C1-4CFE-8BCC-F17986D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31908750"/>
            <a:ext cx="13858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827"/>
                </a:solidFill>
              </a:defRPr>
            </a:pPr>
            <a:r>
              <a:rPr sz="2700">
                <a:solidFill>
                  <a:srgbClr val="111827"/>
                </a:solidFill>
              </a:rPr>
              <a:t>Agradecemos aos professores Cláudio Henrique da Silva e Rodrigo Brandelero pela orientação na proposta A3.</a:t>
            </a:r>
          </a:p>
        </p:txBody>
      </p:sp>
      <p:sp>
        <p:nvSpPr>
          <p:cNvPr id="55" name="referencias-copy">
            <a:extLst xmlns:a="http://schemas.openxmlformats.org/drawingml/2006/main">
              <a:ext uri="{FF2B5EF4-FFF2-40B4-BE49-F238E27FC236}">
                <a16:creationId xmlns:a16="http://schemas.microsoft.com/office/drawing/2014/main" id="{54004146-C5BC-4A65-A280-BCF4DD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36385500"/>
            <a:ext cx="138588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11827"/>
                </a:solidFill>
              </a:defRPr>
            </a:pPr>
            <a:r>
              <a:rPr sz="2400">
                <a:solidFill>
                  <a:srgbClr val="111827"/>
                </a:solidFill>
              </a:rPr>
              <a:t>RENDER. Static Sites. 2026.</a:t>
            </a:r>
          </a:p>
          <a:p xmlns:a="http://schemas.openxmlformats.org/drawingml/2006/main">
            <a:pPr algn="l">
              <a:defRPr sz="2400">
                <a:solidFill>
                  <a:srgbClr val="111827"/>
                </a:solidFill>
              </a:defRPr>
            </a:pPr>
            <a:r>
              <a:rPr sz="2400">
                <a:solidFill>
                  <a:srgbClr val="111827"/>
                </a:solidFill>
              </a:rPr>
              <a:t>GOOGLE CHROME DEVELOPERS. Lighthouse. 2026.</a:t>
            </a:r>
          </a:p>
          <a:p xmlns:a="http://schemas.openxmlformats.org/drawingml/2006/main">
            <a:pPr algn="l">
              <a:defRPr sz="2400">
                <a:solidFill>
                  <a:srgbClr val="111827"/>
                </a:solidFill>
              </a:defRPr>
            </a:pPr>
            <a:r>
              <a:rPr sz="2400">
                <a:solidFill>
                  <a:srgbClr val="111827"/>
                </a:solidFill>
              </a:rPr>
              <a:t>MDN WEB DOCS. Web Storage API. 2026.</a:t>
            </a:r>
          </a:p>
          <a:p xmlns:a="http://schemas.openxmlformats.org/drawingml/2006/main">
            <a:pPr algn="l">
              <a:defRPr sz="2400">
                <a:solidFill>
                  <a:srgbClr val="111827"/>
                </a:solidFill>
              </a:defRPr>
            </a:pPr>
            <a:r>
              <a:rPr sz="2400">
                <a:solidFill>
                  <a:srgbClr val="111827"/>
                </a:solidFill>
              </a:rPr>
              <a:t>CHART.JS. Documentation. 2026.</a:t>
            </a:r>
          </a:p>
        </p:txBody>
      </p:sp>
    </p:spTree>
    <p:extLst>
      <p:ext uri="{BB962C8B-B14F-4D97-AF65-F5344CB8AC3E}">
        <p14:creationId xmlns:p14="http://schemas.microsoft.com/office/powerpoint/2010/main" val="560691188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2026-06-18T19:27:29.2860000Z</dcterms:created>
  <dcterms:modified xsi:type="dcterms:W3CDTF">2026-06-18T19:27:29.2860000Z</dcterms:modified>
</coreProperties>
</file>